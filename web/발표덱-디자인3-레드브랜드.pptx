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08933"/>
                </a:solidFill>
                <a:latin typeface="Malgun Gothic"/>
                <a:ea typeface="Malgun Gothic"/>
              </a:rPr>
              <a:t>MARKETING PERFORMANCE INSIGHTS · DA 공통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0E2A3B"/>
                </a:solidFill>
                <a:latin typeface="Malgun Gothic"/>
                <a:ea typeface="Malgun Gothic"/>
              </a:rPr>
              <a:t>채널 성과 진단 &amp; 예산 재배분 리포트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3703320"/>
            <a:ext cx="914400" cy="32004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393192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14202B"/>
                </a:solidFill>
                <a:latin typeface="Malgun Gothic"/>
                <a:ea typeface="Malgun Gothic"/>
              </a:rPr>
              <a:t>5개 채널 성과 데이터를 정제·계산해, 다음 주 증액·중단 채널을 결재 가능한 형태로 정리한 리포트.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263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Problem 09 · DA 공통  |  분석 W1–W8  |  계산 엔진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26364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Malgun Gothic"/>
                <a:ea typeface="Malgun Gothic"/>
              </a:rPr>
              <a:t>2026.07.01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01 ·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822960" cy="32004"/>
          </a:xfrm>
          <a:prstGeom prst="rect">
            <a:avLst/>
          </a:prstGeom>
          <a:solidFill>
            <a:srgbClr val="B08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FFFFF"/>
                </a:solidFill>
                <a:latin typeface="Malgun Gothic"/>
                <a:ea typeface="Malgun Gothic"/>
              </a:rPr>
              <a:t>매주 5개 채널 성과 숫자는 확보되나, 정작 필요한 답("어디에 증액하고 어디를 중단·점검할 것인가")은 데이터에 부재.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5E0D6"/>
                </a:solidFill>
                <a:latin typeface="Malgun Gothic"/>
                <a:ea typeface="Malgun Gothic"/>
              </a:rPr>
              <a:t>이에 리포트를 경영진이 그대로 결재 가능한 예산 의사결정 도구로 재정의. 계산은 Python 전담(오류 제거·재현), 해석은 채널 ROI 순위 → 급변 이슈 → 예산 재배분안 순으로 배열.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02 · HEADLINE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B"/>
                </a:solidFill>
                <a:latin typeface="Malgun Gothic"/>
                <a:ea typeface="Malgun Gothic"/>
              </a:rPr>
              <a:t>핵심 성과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04825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4864" cy="13716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7452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총 지출(유료)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58568"/>
            <a:ext cx="1773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5,068만원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52928" y="1691640"/>
            <a:ext cx="204825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52928" y="1691640"/>
            <a:ext cx="54864" cy="1371600"/>
          </a:xfrm>
          <a:prstGeom prst="rect">
            <a:avLst/>
          </a:prstGeom>
          <a:solidFill>
            <a:srgbClr val="1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87452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총 매출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258568"/>
            <a:ext cx="1773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4.40억원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65776" y="1691640"/>
            <a:ext cx="204825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5776" y="1691640"/>
            <a:ext cx="54864" cy="1371600"/>
          </a:xfrm>
          <a:prstGeom prst="rect">
            <a:avLst/>
          </a:prstGeom>
          <a:solidFill>
            <a:srgbClr val="1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187452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전체 ROI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258568"/>
            <a:ext cx="1773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867%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78624" y="1691640"/>
            <a:ext cx="204825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1691640"/>
            <a:ext cx="54864" cy="13716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187452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총 전환수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504" y="2258568"/>
            <a:ext cx="1773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22,694건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91472" y="1691640"/>
            <a:ext cx="2048256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91472" y="1691640"/>
            <a:ext cx="54864" cy="1371600"/>
          </a:xfrm>
          <a:prstGeom prst="rect">
            <a:avLst/>
          </a:prstGeom>
          <a:solidFill>
            <a:srgbClr val="B08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74352" y="1874520"/>
            <a:ext cx="1773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오가닉 매출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2258568"/>
            <a:ext cx="177393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1.04억원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743200"/>
            <a:ext cx="1773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Malgun Gothic"/>
                <a:ea typeface="Malgun Gothic"/>
              </a:rPr>
              <a:t>전체의 23.7%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전주 대비 변화 (W7 → W8)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95020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416052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160520"/>
            <a:ext cx="54864" cy="123444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34340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지출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469087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647만원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09320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+7.2%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47288" y="416052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47288" y="4160520"/>
            <a:ext cx="54864" cy="1234440"/>
          </a:xfrm>
          <a:prstGeom prst="rect">
            <a:avLst/>
          </a:prstGeom>
          <a:solidFill>
            <a:srgbClr val="1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434340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매출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30168" y="469087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5,865만원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30168" y="509320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+3.8%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54496" y="416052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54496" y="4160520"/>
            <a:ext cx="54864" cy="123444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37376" y="434340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전환수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469087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3,081건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509320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+7.8%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61704" y="4160520"/>
            <a:ext cx="2624328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061704" y="4160520"/>
            <a:ext cx="54864" cy="123444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44584" y="434340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Malgun Gothic"/>
                <a:ea typeface="Malgun Gothic"/>
              </a:rPr>
              <a:t>CTR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4690872"/>
            <a:ext cx="23500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E2A3B"/>
                </a:solidFill>
                <a:latin typeface="Malgun Gothic"/>
                <a:ea typeface="Malgun Gothic"/>
              </a:rPr>
              <a:t>4.57%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4584" y="509320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-0.8%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355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모든 수치 pandas 계산 · metrics.json 기반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03 · CHANNEL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B"/>
                </a:solidFill>
                <a:latin typeface="Malgun Gothic"/>
                <a:ea typeface="Malgun Gothic"/>
              </a:rPr>
              <a:t>채널별 ROI 순위 &amp; 업계 벤치마크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0136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이메일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783080"/>
            <a:ext cx="6766560" cy="292608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1783080"/>
            <a:ext cx="6766560" cy="292608"/>
          </a:xfrm>
          <a:prstGeom prst="rect">
            <a:avLst/>
          </a:prstGeom>
          <a:solidFill>
            <a:srgbClr val="1B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773936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1042%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76856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네이버광고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258568"/>
            <a:ext cx="6766560" cy="292608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4560" y="2258568"/>
            <a:ext cx="4275897" cy="292608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659%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52344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카카오광고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2734056"/>
            <a:ext cx="6766560" cy="292608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94560" y="2734056"/>
            <a:ext cx="2229000" cy="292608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72491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343%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메타광고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209544"/>
            <a:ext cx="6766560" cy="292608"/>
          </a:xfrm>
          <a:prstGeom prst="rect">
            <a:avLst/>
          </a:prstGeom>
          <a:solidFill>
            <a:srgbClr val="EF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94560" y="3209544"/>
            <a:ext cx="1679774" cy="292608"/>
          </a:xfrm>
          <a:prstGeom prst="rect">
            <a:avLst/>
          </a:prstGeom>
          <a:solidFill>
            <a:srgbClr val="123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320040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B"/>
                </a:solidFill>
                <a:latin typeface="Malgun Gothic"/>
                <a:ea typeface="Malgun Gothic"/>
              </a:rPr>
              <a:t>259%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3977639"/>
          <a:ext cx="10908792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371600"/>
                <a:gridCol w="1554480"/>
                <a:gridCol w="274320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채널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ROAS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업계 평균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벤치마크 판정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비고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이메일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10.42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18.5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업계 평균 하회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내부 1위·개선 여지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네이버광고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6.59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3.2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업계 상위 25%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검색 기반 안정 고효율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카카오광고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3.43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2.8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평균 상회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집행 안정성 점검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메타광고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2.59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2.4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평균 소폭 상회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증액 시 효율 악화 리스크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ROI = 매출 / 광고비 × 100 · 오가닉은 광고비 0원이라 측정 불가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04 ·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B"/>
                </a:solidFill>
                <a:latin typeface="Malgun Gothic"/>
                <a:ea typeface="Malgun Gothic"/>
              </a:rPr>
              <a:t>진단된 이슈 3가지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0908792" cy="54864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01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23A48"/>
                </a:solidFill>
                <a:latin typeface="Malgun Gothic"/>
                <a:ea typeface="Malgun Gothic"/>
              </a:rPr>
              <a:t>Issue 01 · 효율 저하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3B"/>
                </a:solidFill>
                <a:latin typeface="Malgun Gothic"/>
                <a:ea typeface="Malgun Gothic"/>
              </a:rPr>
              <a:t>메타광고 W5 광고비 급증 대비 ROI 급락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742"/>
                </a:solidFill>
                <a:latin typeface="Malgun Gothic"/>
                <a:ea typeface="Malgun Gothic"/>
              </a:rPr>
              <a:t>광고비 W4 1,248,328원 → W5 4,442,609원(3.6배)인데 매출은 +43.6%. ROI 306% → 124%로 반토막. → 일 예산 한도·증액 승인 기준 설정.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246120"/>
            <a:ext cx="10908792" cy="54864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1071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E2A3B"/>
                </a:solidFill>
                <a:latin typeface="Malgun Gothic"/>
                <a:ea typeface="Malgun Gothic"/>
              </a:rPr>
              <a:t>Issue 02 · 집행 변동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70332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3B"/>
                </a:solidFill>
                <a:latin typeface="Malgun Gothic"/>
                <a:ea typeface="Malgun Gothic"/>
              </a:rPr>
              <a:t>카카오광고 W4 집행 급락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8736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742"/>
                </a:solidFill>
                <a:latin typeface="Malgun Gothic"/>
                <a:ea typeface="Malgun Gothic"/>
              </a:rPr>
              <a:t>지출 W3 888,279원 → W4 522,005원(-41.2%). 성과 악화 아닌 집행 감소. → 예산 소진·소재 승인·플랫폼 장애 확인.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754879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4754879"/>
            <a:ext cx="10908792" cy="54864"/>
          </a:xfrm>
          <a:prstGeom prst="rect">
            <a:avLst/>
          </a:prstGeom>
          <a:solidFill>
            <a:srgbClr val="B08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919471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08933"/>
                </a:solidFill>
                <a:latin typeface="Malgun Gothic"/>
                <a:ea typeface="Malgun Gothic"/>
              </a:rPr>
              <a:t>Issue 03 · 데이터 품질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79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E2A3B"/>
                </a:solidFill>
                <a:latin typeface="Malgun Gothic"/>
                <a:ea typeface="Malgun Gothic"/>
              </a:rPr>
              <a:t>이상치·중복·결측으로 집계 신뢰도 저하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596127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B3742"/>
                </a:solidFill>
                <a:latin typeface="Malgun Gothic"/>
                <a:ea typeface="Malgun Gothic"/>
              </a:rPr>
              <a:t>이메일 04-26 AOV가 정제 후 평균의 9.6배 → 제외. 완전 중복 1행·결측 3건 처리. raw 280행 → clean 278행.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05 · BUDGET REALLOCATION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B"/>
                </a:solidFill>
                <a:latin typeface="Malgun Gothic"/>
                <a:ea typeface="Malgun Gothic"/>
              </a:rPr>
              <a:t>예산 재배분 기획안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3492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1280160" cy="365760"/>
          </a:xfrm>
          <a:prstGeom prst="rect">
            <a:avLst/>
          </a:prstGeom>
          <a:solidFill>
            <a:srgbClr val="B2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4825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P0 · 즉시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3B"/>
                </a:solidFill>
                <a:latin typeface="Malgun Gothic"/>
                <a:ea typeface="Malgun Gothic"/>
              </a:rPr>
              <a:t>메타 증액 한도 → 고효율 채널 이동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4937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B3742"/>
                </a:solidFill>
                <a:latin typeface="Malgun Gothic"/>
                <a:ea typeface="Malgun Gothic"/>
              </a:rPr>
              <a:t>메타 ROI 259% vs 이메일 ROI 1042%(약 4배). W5 초과분 3,194,281원을 이메일 CRM으로 이동 시 기대 추가 매출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7A5A"/>
                </a:solidFill>
                <a:latin typeface="Malgun Gothic"/>
                <a:ea typeface="Malgun Gothic"/>
              </a:rPr>
              <a:t>+1,877만원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기준값(실현 75%) · 상한 2,503만원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83080"/>
            <a:ext cx="534924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28232" y="2011680"/>
            <a:ext cx="1280160" cy="365760"/>
          </a:xfrm>
          <a:prstGeom prst="rect">
            <a:avLst/>
          </a:prstGeom>
          <a:solidFill>
            <a:srgbClr val="B08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48256"/>
            <a:ext cx="1188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</a:rPr>
              <a:t>P1 · 장기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5146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2A3B"/>
                </a:solidFill>
                <a:latin typeface="Malgun Gothic"/>
                <a:ea typeface="Malgun Gothic"/>
              </a:rPr>
              <a:t>오가닉 자산화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063240"/>
            <a:ext cx="4983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B3742"/>
                </a:solidFill>
                <a:latin typeface="Malgun Gothic"/>
                <a:ea typeface="Malgun Gothic"/>
              </a:rPr>
              <a:t>오가닉이 광고비 0원으로 전체 매출의 23.7%(1.04억원) 확보 중. 메타 과집행 방지로 아낀 예산을 SEO·브랜드검색·재방문 유도에 투입해 유료 채널 의존도를 구조적으로 낮춘다.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우선순위 = 비즈니스 임팩트 × 재발 가능성 × 실행 난이도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06 · IMPACT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B"/>
                </a:solidFill>
                <a:latin typeface="Malgun Gothic"/>
                <a:ea typeface="Malgun Gothic"/>
              </a:rPr>
              <a:t>기대효과 시나리오 &amp; 실행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81328"/>
            <a:ext cx="10908792" cy="18288"/>
          </a:xfrm>
          <a:prstGeom prst="rect">
            <a:avLst/>
          </a:prstGeom>
          <a:solidFill>
            <a:srgbClr val="DE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908792" cy="1554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371600"/>
                <a:gridCol w="2560320"/>
                <a:gridCol w="496519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시나리오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실현율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기대 추가 매출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근거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보수 (하한)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50%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12,513,258원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어트리뷰션 중복·이동 손실 방어적 반영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기준 (중앙)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75%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18,769,887원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채널 이동 통상 실현 · 의사결정 기준값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공격 (상한)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100%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25,026,516원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ROAS 격차 전부 실현 이론 최대치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657600"/>
          <a:ext cx="10908792" cy="1938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0"/>
                <a:gridCol w="2103120"/>
                <a:gridCol w="1828800"/>
                <a:gridCol w="3136392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액션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담당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기한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성공 기준 (KPI)</a:t>
                      </a:r>
                    </a:p>
                  </a:txBody>
                  <a:tcPr anchor="ctr" marL="91440" marT="0" marB="0">
                    <a:solidFill>
                      <a:srgbClr val="0E2A3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P0 메타 일 예산 한도 설정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퍼포먼스 리드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이번 주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초과 집행 0건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P0 초과분 이메일 CRM 이동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CRM 매니저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차주 전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기준값 대비 실측 추적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P1 카카오 W4 원인 규명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카카오 담당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3영업일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원인 1건 확정</a:t>
                      </a:r>
                    </a:p>
                  </a:txBody>
                  <a:tcPr anchor="ctr" marL="91440" marT="0" marB="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Q 데이터 검증 자동화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DA(본인)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차기 리포트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02B"/>
                          </a:solidFill>
                          <a:latin typeface="Malgun Gothic"/>
                          <a:ea typeface="Malgun Gothic"/>
                        </a:rPr>
                        <a:t>중복·결측·AOV 자동 플래그</a:t>
                      </a:r>
                    </a:p>
                  </a:txBody>
                  <a:tcPr anchor="ctr" marL="91440" marT="0" marB="0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Malgun Gothic"/>
                <a:ea typeface="Malgun Gothic"/>
              </a:rPr>
              <a:t>모든 수치 Python 계산 · 새 CSV 넣고 스크립트 1줄이면 동일 재현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08933"/>
                </a:solidFill>
                <a:latin typeface="Malgun Gothic"/>
                <a:ea typeface="Malgun Gothic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51560"/>
            <a:ext cx="822960" cy="32004"/>
          </a:xfrm>
          <a:prstGeom prst="rect">
            <a:avLst/>
          </a:prstGeom>
          <a:solidFill>
            <a:srgbClr val="B08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FFFFFF"/>
                </a:solidFill>
                <a:latin typeface="Malgun Gothic"/>
                <a:ea typeface="Malgun Gothic"/>
              </a:rPr>
              <a:t>데이터 정제부터 예산 결정까지 스크립트 1회 실행으로 재현되는 파이프라인.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E5E0D6"/>
                </a:solidFill>
                <a:latin typeface="Malgun Gothic"/>
                <a:ea typeface="Malgun Gothic"/>
              </a:rPr>
              <a:t>Basic(핵심수치·ROI·이슈·변화율) + Standard(재현 파이프라인·설계근거) + Challenge(예산 재배분·시나리오·실행계획)를 하나의 리포트로 통합. 전 합계·ROI·변화율은 pandas 계산값. 새 CSV 교체 후 python scripts/generate_insight_report.py 1줄로 동일 품질 재생성.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FE0DC"/>
                </a:solidFill>
                <a:latin typeface="Malgun Gothic"/>
                <a:ea typeface="Malgun Gothic"/>
              </a:rPr>
              <a:t>insight_report.md · generate_insight_report.py · metrics.json · decisions.md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